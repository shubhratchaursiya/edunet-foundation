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5"/>
  </p:notesMasterIdLst>
  <p:sldIdLst>
    <p:sldId id="256" r:id="rId5"/>
    <p:sldId id="2146847054" r:id="rId6"/>
    <p:sldId id="262" r:id="rId7"/>
    <p:sldId id="265" r:id="rId8"/>
    <p:sldId id="266" r:id="rId9"/>
    <p:sldId id="267" r:id="rId10"/>
    <p:sldId id="268" r:id="rId11"/>
    <p:sldId id="2146847055" r:id="rId12"/>
    <p:sldId id="269" r:id="rId13"/>
    <p:sldId id="25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3D9CC-52A4-7BB9-5926-A17EAD909109}" v="32" dt="2024-12-19T12:09:51.9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111" d="100"/>
          <a:sy n="111" d="100"/>
        </p:scale>
        <p:origin x="58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9/28/2025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9/28/2025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9/28/2025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9/28/2025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9/28/2025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9/28/2025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9/28/2025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9/28/2025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9/28/2025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9/28/2025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9/28/2025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9/28/2025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hyperlink" Target="https://github.com/shubhratchaursiya/Edunet-Foundation" TargetMode="Externa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jcrt.org/papers/IJCRT2412393.pdf" TargetMode="External"/><Relationship Id="rId2" Type="http://schemas.openxmlformats.org/officeDocument/2006/relationships/hyperlink" Target="https://www.scribd.com/document/661027328/A-Study-Planner-App-Helping-Students-Stay-Organized-and-On-Track" TargetMode="External"/><Relationship Id="rId1" Type="http://schemas.openxmlformats.org/officeDocument/2006/relationships/slideLayout" Target="../slideLayouts/slideLayout2.xml"/><Relationship Id="rId6" Type="http://schemas.openxmlformats.org/officeDocument/2006/relationships/hyperlink" Target="https://www.frontiersin.org/journals/education/articles/10.3389/feduc.2025.1623228/full" TargetMode="External"/><Relationship Id="rId5" Type="http://schemas.openxmlformats.org/officeDocument/2006/relationships/hyperlink" Target="https://ijisrt.com/assets/upload/files/IJISRT25MAY764.pdf" TargetMode="External"/><Relationship Id="rId4" Type="http://schemas.openxmlformats.org/officeDocument/2006/relationships/hyperlink" Target="https://pmc.ncbi.nlm.nih.gov/articles/PMC11967054/"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IN" dirty="0">
                <a:solidFill>
                  <a:schemeClr val="accent2">
                    <a:lumMod val="75000"/>
                  </a:schemeClr>
                </a:solidFill>
              </a:rPr>
              <a:t>Smart Study Planner</a:t>
            </a:r>
            <a:endParaRPr lang="en-US" b="1" dirty="0">
              <a:solidFill>
                <a:schemeClr val="accent2">
                  <a:lumMod val="75000"/>
                </a:schemeClr>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2105908" y="3663339"/>
            <a:ext cx="7980183" cy="1815882"/>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p>
          <a:p>
            <a:pPr marL="1714500" lvl="3" indent="-342900">
              <a:buFont typeface="Wingdings" panose="05000000000000000000" pitchFamily="2" charset="2"/>
              <a:buChar char="v"/>
            </a:pPr>
            <a:r>
              <a:rPr lang="en-US" sz="2800" b="1" i="1" dirty="0">
                <a:solidFill>
                  <a:schemeClr val="accent1">
                    <a:lumMod val="75000"/>
                  </a:schemeClr>
                </a:solidFill>
                <a:latin typeface="Arial"/>
                <a:cs typeface="Arial"/>
              </a:rPr>
              <a:t>Shubhrat Chaursiya</a:t>
            </a:r>
          </a:p>
          <a:p>
            <a:pPr marL="1714500" lvl="3" indent="-342900">
              <a:buFont typeface="Wingdings" panose="05000000000000000000" pitchFamily="2" charset="2"/>
              <a:buChar char="v"/>
            </a:pPr>
            <a:r>
              <a:rPr lang="en-US" sz="2800" b="1" i="1" dirty="0">
                <a:solidFill>
                  <a:schemeClr val="accent1">
                    <a:lumMod val="75000"/>
                  </a:schemeClr>
                </a:solidFill>
                <a:latin typeface="Arial"/>
                <a:cs typeface="Arial"/>
              </a:rPr>
              <a:t>Arya College of Engineering and IT</a:t>
            </a:r>
          </a:p>
          <a:p>
            <a:pPr marL="1714500" lvl="3" indent="-342900">
              <a:buFont typeface="Wingdings" panose="05000000000000000000" pitchFamily="2" charset="2"/>
              <a:buChar char="v"/>
            </a:pPr>
            <a:r>
              <a:rPr lang="en-US" sz="2800" b="1" i="1" dirty="0">
                <a:solidFill>
                  <a:schemeClr val="accent1">
                    <a:lumMod val="75000"/>
                  </a:schemeClr>
                </a:solidFill>
                <a:latin typeface="Arial"/>
                <a:cs typeface="Arial"/>
              </a:rPr>
              <a:t>Information Technology</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p>
          <a:p>
            <a:pPr marL="305435" indent="-305435"/>
            <a:r>
              <a:rPr lang="en-US" sz="2000" b="1" dirty="0">
                <a:latin typeface="Arial"/>
                <a:ea typeface="+mn-lt"/>
                <a:cs typeface="+mn-lt"/>
              </a:rPr>
              <a:t>Algorithm &amp; Deployment (Step by Step  Procedure) </a:t>
            </a:r>
            <a:endParaRPr lang="en-US" dirty="0">
              <a:latin typeface="Arial"/>
              <a:cs typeface="Calibri"/>
            </a:endParaRPr>
          </a:p>
          <a:p>
            <a:pPr marL="305435" indent="-305435"/>
            <a:r>
              <a:rPr lang="en-US" sz="2000" b="1" dirty="0">
                <a:latin typeface="Arial"/>
                <a:ea typeface="+mn-lt"/>
                <a:cs typeface="Arial"/>
              </a:rPr>
              <a:t>Result</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Scope(Optional)</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980854"/>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6" name="Rectangle 2">
            <a:extLst>
              <a:ext uri="{FF2B5EF4-FFF2-40B4-BE49-F238E27FC236}">
                <a16:creationId xmlns:a16="http://schemas.microsoft.com/office/drawing/2014/main" id="{E6FA226B-B793-1ABD-FBA7-D34D3073B2DB}"/>
              </a:ext>
            </a:extLst>
          </p:cNvPr>
          <p:cNvSpPr>
            <a:spLocks noGrp="1" noChangeArrowheads="1"/>
          </p:cNvSpPr>
          <p:nvPr>
            <p:ph idx="1"/>
          </p:nvPr>
        </p:nvSpPr>
        <p:spPr bwMode="auto">
          <a:xfrm>
            <a:off x="581192" y="1930530"/>
            <a:ext cx="1062383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00000"/>
              </a:lnSpc>
              <a:spcBef>
                <a:spcPct val="0"/>
              </a:spcBef>
              <a:spcAft>
                <a:spcPct val="0"/>
              </a:spcAft>
              <a:buClrTx/>
              <a:buSzTx/>
              <a:buFont typeface="Wingdings" panose="05000000000000000000" pitchFamily="2" charset="2"/>
              <a:buChar char="§"/>
            </a:pPr>
            <a:r>
              <a:rPr lang="en-GB" sz="3600" dirty="0"/>
              <a:t>Students often face challenges in organizing study schedules and tracking academic tasks. This planner helps users create, view, and manage study goals with reminders and visual timelines. The goal is to boost productivity and time management. Tasks and progress can be saved locally</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938344"/>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6F47B10D-BA02-E027-46A1-3EB9B387A427}"/>
              </a:ext>
            </a:extLst>
          </p:cNvPr>
          <p:cNvSpPr>
            <a:spLocks noGrp="1" noChangeArrowheads="1"/>
          </p:cNvSpPr>
          <p:nvPr>
            <p:ph idx="1"/>
          </p:nvPr>
        </p:nvSpPr>
        <p:spPr bwMode="auto">
          <a:xfrm>
            <a:off x="581192" y="1583229"/>
            <a:ext cx="959332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Arial" panose="020B0604020202020204" pitchFamily="34" charset="0"/>
              </a:rPr>
              <a:t>Frontend Technologies:</a:t>
            </a:r>
          </a:p>
          <a:p>
            <a:pPr marL="936000" lvl="3" indent="0" defTabSz="914400" eaLnBrk="0" fontAlgn="base" hangingPunct="0">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Arial" panose="020B0604020202020204" pitchFamily="34" charset="0"/>
              </a:rPr>
              <a:t>HTML5</a:t>
            </a:r>
            <a:r>
              <a:rPr kumimoji="0" lang="en-US" altLang="en-US" sz="2800" b="0" i="0" u="none" strike="noStrike" cap="none" normalizeH="0" baseline="0" dirty="0">
                <a:ln>
                  <a:noFill/>
                </a:ln>
                <a:solidFill>
                  <a:schemeClr val="tx1"/>
                </a:solidFill>
                <a:effectLst/>
                <a:latin typeface="Arial" panose="020B0604020202020204" pitchFamily="34" charset="0"/>
              </a:rPr>
              <a:t> – Structure of the webpage</a:t>
            </a:r>
          </a:p>
          <a:p>
            <a:pPr marL="936000" lvl="3" indent="0" defTabSz="914400" eaLnBrk="0" fontAlgn="base" hangingPunct="0">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Arial" panose="020B0604020202020204" pitchFamily="34" charset="0"/>
              </a:rPr>
              <a:t>CSS3</a:t>
            </a:r>
            <a:r>
              <a:rPr kumimoji="0" lang="en-US" altLang="en-US" sz="2800" b="0" i="0" u="none" strike="noStrike" cap="none" normalizeH="0" baseline="0" dirty="0">
                <a:ln>
                  <a:noFill/>
                </a:ln>
                <a:solidFill>
                  <a:schemeClr val="tx1"/>
                </a:solidFill>
                <a:effectLst/>
                <a:latin typeface="Arial" panose="020B0604020202020204" pitchFamily="34" charset="0"/>
              </a:rPr>
              <a:t> – Styling and responsive layouts</a:t>
            </a:r>
          </a:p>
          <a:p>
            <a:pPr marL="936000" lvl="3" indent="0" defTabSz="914400" eaLnBrk="0" fontAlgn="base" hangingPunct="0">
              <a:spcBef>
                <a:spcPct val="0"/>
              </a:spcBef>
              <a:spcAft>
                <a:spcPct val="0"/>
              </a:spcAft>
              <a:buClrTx/>
              <a:buSzTx/>
              <a:buFontTx/>
              <a:buChar char="•"/>
            </a:pPr>
            <a:r>
              <a:rPr kumimoji="0" lang="en-US" altLang="en-US" sz="2800" b="1" i="0" u="none" strike="noStrike" cap="none" normalizeH="0" baseline="0" dirty="0">
                <a:ln>
                  <a:noFill/>
                </a:ln>
                <a:solidFill>
                  <a:schemeClr val="tx1"/>
                </a:solidFill>
                <a:effectLst/>
                <a:latin typeface="Arial" panose="020B0604020202020204" pitchFamily="34" charset="0"/>
              </a:rPr>
              <a:t>JavaScript </a:t>
            </a:r>
            <a:r>
              <a:rPr kumimoji="0" lang="en-US" altLang="en-US" sz="2800" b="0" i="0" u="none" strike="noStrike" cap="none" normalizeH="0" baseline="0" dirty="0">
                <a:ln>
                  <a:noFill/>
                </a:ln>
                <a:solidFill>
                  <a:schemeClr val="tx1"/>
                </a:solidFill>
                <a:effectLst/>
                <a:latin typeface="Arial" panose="020B0604020202020204" pitchFamily="34" charset="0"/>
              </a:rPr>
              <a:t> – Dynamic interactivity (cart, filtering, total calculation)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800" b="1" i="0" u="none" strike="noStrike" cap="none" normalizeH="0" baseline="0" dirty="0">
                <a:ln>
                  <a:noFill/>
                </a:ln>
                <a:solidFill>
                  <a:schemeClr val="tx1"/>
                </a:solidFill>
                <a:effectLst/>
                <a:latin typeface="Arial" panose="020B0604020202020204" pitchFamily="34" charset="0"/>
              </a:rPr>
              <a:t>Design Approach:</a:t>
            </a:r>
          </a:p>
          <a:p>
            <a:pPr marL="594000" lvl="2" indent="0" defTabSz="914400" eaLnBrk="0" fontAlgn="base" hangingPunct="0">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Clean and user-friendly interface</a:t>
            </a:r>
          </a:p>
          <a:p>
            <a:pPr marL="594000" lvl="2" indent="0" defTabSz="914400" eaLnBrk="0" fontAlgn="base" hangingPunct="0">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Mobile-responsive design</a:t>
            </a:r>
          </a:p>
          <a:p>
            <a:pPr marL="594000" lvl="2" indent="0" defTabSz="914400" eaLnBrk="0" fontAlgn="base" hangingPunct="0">
              <a:spcBef>
                <a:spcPct val="0"/>
              </a:spcBef>
              <a:spcAft>
                <a:spcPct val="0"/>
              </a:spcAft>
              <a:buClrTx/>
              <a:buSzTx/>
              <a:buFontTx/>
              <a:buChar char="•"/>
            </a:pPr>
            <a:r>
              <a:rPr kumimoji="0" lang="en-US" altLang="en-US" sz="2800" b="0" i="0" u="none" strike="noStrike" cap="none" normalizeH="0" baseline="0" dirty="0">
                <a:ln>
                  <a:noFill/>
                </a:ln>
                <a:solidFill>
                  <a:schemeClr val="tx1"/>
                </a:solidFill>
                <a:effectLst/>
                <a:latin typeface="Arial" panose="020B0604020202020204" pitchFamily="34" charset="0"/>
              </a:rPr>
              <a:t>Modular separation of HTML, CSS, and JS files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883310"/>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3" name="Rectangle 1">
            <a:extLst>
              <a:ext uri="{FF2B5EF4-FFF2-40B4-BE49-F238E27FC236}">
                <a16:creationId xmlns:a16="http://schemas.microsoft.com/office/drawing/2014/main" id="{2A13D4AF-BC64-937B-E983-E2F50E4F343E}"/>
              </a:ext>
            </a:extLst>
          </p:cNvPr>
          <p:cNvSpPr>
            <a:spLocks noGrp="1" noChangeArrowheads="1"/>
          </p:cNvSpPr>
          <p:nvPr>
            <p:ph idx="1"/>
          </p:nvPr>
        </p:nvSpPr>
        <p:spPr bwMode="auto">
          <a:xfrm>
            <a:off x="581192" y="1569973"/>
            <a:ext cx="9362908"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Product Catalog Creation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Define product categories and details (image, price, description).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Frontend Design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Layout using HTML and CSS (grid &amp; cards).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Interactive Features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Add-to-Cart, Remove-from-Cart functions in JavaScript.</a:t>
            </a: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Real-time total price calculation.</a:t>
            </a: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Product filtering by category.</a:t>
            </a: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Modal views for product details.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Testing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Cross-browser compatibility</a:t>
            </a: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Mobile responsiveness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Deployment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24000" lvl="1"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Host using GitHub Pages / Netlify for free and easy access.</a:t>
            </a:r>
          </a:p>
        </p:txBody>
      </p:sp>
    </p:spTree>
    <p:extLst>
      <p:ext uri="{BB962C8B-B14F-4D97-AF65-F5344CB8AC3E}">
        <p14:creationId xmlns:p14="http://schemas.microsoft.com/office/powerpoint/2010/main" val="4154508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fontScale="70000" lnSpcReduction="20000"/>
          </a:bodyPr>
          <a:lstStyle/>
          <a:p>
            <a:pPr marL="0" indent="0">
              <a:buNone/>
            </a:pPr>
            <a:endParaRPr lang="en-US" sz="2800" b="1" dirty="0"/>
          </a:p>
          <a:p>
            <a:pPr marL="305435" indent="-305435"/>
            <a:endParaRPr lang="en-US" sz="2800" b="1" dirty="0"/>
          </a:p>
          <a:p>
            <a:pPr marL="305435" indent="-305435"/>
            <a:endParaRPr lang="en-US" sz="2800" b="1" dirty="0"/>
          </a:p>
          <a:p>
            <a:pPr marL="305435" indent="-305435"/>
            <a:endParaRPr lang="en-US" sz="2800" b="1" dirty="0"/>
          </a:p>
          <a:p>
            <a:pPr marL="305435" indent="-305435"/>
            <a:endParaRPr lang="en-US" sz="2800" b="1" dirty="0"/>
          </a:p>
          <a:p>
            <a:pPr marL="305435" indent="-305435"/>
            <a:endParaRPr lang="en-US" sz="2800" b="1" dirty="0"/>
          </a:p>
          <a:p>
            <a:pPr marL="305435" indent="-305435"/>
            <a:endParaRPr lang="en-US" sz="2800" b="1" dirty="0"/>
          </a:p>
          <a:p>
            <a:pPr marL="305435" indent="-305435"/>
            <a:endParaRPr lang="en-US" sz="2800" b="1" dirty="0"/>
          </a:p>
          <a:p>
            <a:pPr marL="305435" indent="-305435"/>
            <a:endParaRPr lang="en-US" sz="2800" b="1" dirty="0"/>
          </a:p>
          <a:p>
            <a:pPr marL="305435" indent="-305435"/>
            <a:r>
              <a:rPr lang="en-US" sz="2800" b="1" dirty="0"/>
              <a:t>Attach your </a:t>
            </a:r>
            <a:r>
              <a:rPr lang="en-US" sz="2800" b="1" dirty="0" err="1"/>
              <a:t>Github</a:t>
            </a:r>
            <a:r>
              <a:rPr lang="en-US" sz="2800" b="1" dirty="0"/>
              <a:t> link</a:t>
            </a:r>
          </a:p>
          <a:p>
            <a:pPr lvl="8">
              <a:buFont typeface="Arial" panose="020B0604020202020204" pitchFamily="34" charset="0"/>
              <a:buChar char="•"/>
            </a:pPr>
            <a:r>
              <a:rPr lang="en-US" sz="2300" dirty="0">
                <a:ea typeface="+mn-lt"/>
                <a:cs typeface="+mn-lt"/>
              </a:rPr>
              <a:t>https://github.com/</a:t>
            </a:r>
            <a:r>
              <a:rPr lang="en-IN" sz="2300" dirty="0" err="1">
                <a:hlinkClick r:id="rId2"/>
              </a:rPr>
              <a:t>shubhratchaursiya</a:t>
            </a:r>
            <a:r>
              <a:rPr lang="en-IN" sz="2300" dirty="0">
                <a:hlinkClick r:id="rId2"/>
              </a:rPr>
              <a:t>/</a:t>
            </a:r>
            <a:r>
              <a:rPr lang="en-IN" sz="2300" dirty="0" err="1">
                <a:hlinkClick r:id="rId2"/>
              </a:rPr>
              <a:t>Edunet</a:t>
            </a:r>
            <a:r>
              <a:rPr lang="en-IN" sz="2300" dirty="0">
                <a:hlinkClick r:id="rId2"/>
              </a:rPr>
              <a:t>-Foundation</a:t>
            </a:r>
            <a:endParaRPr lang="en-US" sz="2300" b="1" dirty="0"/>
          </a:p>
        </p:txBody>
      </p:sp>
      <p:grpSp>
        <p:nvGrpSpPr>
          <p:cNvPr id="42" name="Group 41">
            <a:extLst>
              <a:ext uri="{FF2B5EF4-FFF2-40B4-BE49-F238E27FC236}">
                <a16:creationId xmlns:a16="http://schemas.microsoft.com/office/drawing/2014/main" id="{7FB8F4C0-55FD-7B77-509B-171DF093168F}"/>
              </a:ext>
            </a:extLst>
          </p:cNvPr>
          <p:cNvGrpSpPr/>
          <p:nvPr/>
        </p:nvGrpSpPr>
        <p:grpSpPr>
          <a:xfrm>
            <a:off x="293299" y="1232452"/>
            <a:ext cx="6511361" cy="3880568"/>
            <a:chOff x="293299" y="1232452"/>
            <a:chExt cx="11684387" cy="3799032"/>
          </a:xfrm>
        </p:grpSpPr>
        <p:pic>
          <p:nvPicPr>
            <p:cNvPr id="27" name="Picture 26">
              <a:extLst>
                <a:ext uri="{FF2B5EF4-FFF2-40B4-BE49-F238E27FC236}">
                  <a16:creationId xmlns:a16="http://schemas.microsoft.com/office/drawing/2014/main" id="{D3892F55-38E9-D621-3CC0-DD861BDBD356}"/>
                </a:ext>
              </a:extLst>
            </p:cNvPr>
            <p:cNvPicPr>
              <a:picLocks noChangeAspect="1"/>
            </p:cNvPicPr>
            <p:nvPr/>
          </p:nvPicPr>
          <p:blipFill>
            <a:blip r:embed="rId3"/>
            <a:stretch>
              <a:fillRect/>
            </a:stretch>
          </p:blipFill>
          <p:spPr>
            <a:xfrm>
              <a:off x="293299" y="1232452"/>
              <a:ext cx="3898015" cy="1901273"/>
            </a:xfrm>
            <a:prstGeom prst="rect">
              <a:avLst/>
            </a:prstGeom>
          </p:spPr>
        </p:pic>
        <p:pic>
          <p:nvPicPr>
            <p:cNvPr id="29" name="Picture 28">
              <a:extLst>
                <a:ext uri="{FF2B5EF4-FFF2-40B4-BE49-F238E27FC236}">
                  <a16:creationId xmlns:a16="http://schemas.microsoft.com/office/drawing/2014/main" id="{AC7EAD20-1DBB-9963-E41A-1199965BD955}"/>
                </a:ext>
              </a:extLst>
            </p:cNvPr>
            <p:cNvPicPr>
              <a:picLocks noChangeAspect="1"/>
            </p:cNvPicPr>
            <p:nvPr/>
          </p:nvPicPr>
          <p:blipFill>
            <a:blip r:embed="rId4"/>
            <a:stretch>
              <a:fillRect/>
            </a:stretch>
          </p:blipFill>
          <p:spPr>
            <a:xfrm>
              <a:off x="4191314" y="1249321"/>
              <a:ext cx="3898907" cy="1884404"/>
            </a:xfrm>
            <a:prstGeom prst="rect">
              <a:avLst/>
            </a:prstGeom>
          </p:spPr>
        </p:pic>
        <p:pic>
          <p:nvPicPr>
            <p:cNvPr id="31" name="Picture 30">
              <a:extLst>
                <a:ext uri="{FF2B5EF4-FFF2-40B4-BE49-F238E27FC236}">
                  <a16:creationId xmlns:a16="http://schemas.microsoft.com/office/drawing/2014/main" id="{AF191622-F1DC-7EC9-F7C9-90D318620E96}"/>
                </a:ext>
              </a:extLst>
            </p:cNvPr>
            <p:cNvPicPr>
              <a:picLocks noChangeAspect="1"/>
            </p:cNvPicPr>
            <p:nvPr/>
          </p:nvPicPr>
          <p:blipFill>
            <a:blip r:embed="rId5"/>
            <a:stretch>
              <a:fillRect/>
            </a:stretch>
          </p:blipFill>
          <p:spPr>
            <a:xfrm>
              <a:off x="8089329" y="1249322"/>
              <a:ext cx="3888357" cy="1884404"/>
            </a:xfrm>
            <a:prstGeom prst="rect">
              <a:avLst/>
            </a:prstGeom>
          </p:spPr>
        </p:pic>
        <p:pic>
          <p:nvPicPr>
            <p:cNvPr id="33" name="Picture 32">
              <a:extLst>
                <a:ext uri="{FF2B5EF4-FFF2-40B4-BE49-F238E27FC236}">
                  <a16:creationId xmlns:a16="http://schemas.microsoft.com/office/drawing/2014/main" id="{A6BD6B63-E4BE-1699-B996-C5F6965976A2}"/>
                </a:ext>
              </a:extLst>
            </p:cNvPr>
            <p:cNvPicPr>
              <a:picLocks noChangeAspect="1"/>
            </p:cNvPicPr>
            <p:nvPr/>
          </p:nvPicPr>
          <p:blipFill>
            <a:blip r:embed="rId6"/>
            <a:stretch>
              <a:fillRect/>
            </a:stretch>
          </p:blipFill>
          <p:spPr>
            <a:xfrm>
              <a:off x="293299" y="3150594"/>
              <a:ext cx="3898015" cy="1880889"/>
            </a:xfrm>
            <a:prstGeom prst="rect">
              <a:avLst/>
            </a:prstGeom>
          </p:spPr>
        </p:pic>
        <p:pic>
          <p:nvPicPr>
            <p:cNvPr id="35" name="Picture 34">
              <a:extLst>
                <a:ext uri="{FF2B5EF4-FFF2-40B4-BE49-F238E27FC236}">
                  <a16:creationId xmlns:a16="http://schemas.microsoft.com/office/drawing/2014/main" id="{4C415255-E806-78A3-6962-0228116C6555}"/>
                </a:ext>
              </a:extLst>
            </p:cNvPr>
            <p:cNvPicPr>
              <a:picLocks noChangeAspect="1"/>
            </p:cNvPicPr>
            <p:nvPr/>
          </p:nvPicPr>
          <p:blipFill>
            <a:blip r:embed="rId7"/>
            <a:stretch>
              <a:fillRect/>
            </a:stretch>
          </p:blipFill>
          <p:spPr>
            <a:xfrm>
              <a:off x="4191314" y="3150594"/>
              <a:ext cx="3860348" cy="1880889"/>
            </a:xfrm>
            <a:prstGeom prst="rect">
              <a:avLst/>
            </a:prstGeom>
          </p:spPr>
        </p:pic>
        <p:pic>
          <p:nvPicPr>
            <p:cNvPr id="41" name="Picture 40">
              <a:extLst>
                <a:ext uri="{FF2B5EF4-FFF2-40B4-BE49-F238E27FC236}">
                  <a16:creationId xmlns:a16="http://schemas.microsoft.com/office/drawing/2014/main" id="{5811DB2F-CBB4-A4E5-F565-6BF55959A638}"/>
                </a:ext>
              </a:extLst>
            </p:cNvPr>
            <p:cNvPicPr>
              <a:picLocks noChangeAspect="1"/>
            </p:cNvPicPr>
            <p:nvPr/>
          </p:nvPicPr>
          <p:blipFill>
            <a:blip r:embed="rId8"/>
            <a:stretch>
              <a:fillRect/>
            </a:stretch>
          </p:blipFill>
          <p:spPr>
            <a:xfrm>
              <a:off x="8051662" y="3133726"/>
              <a:ext cx="3920127" cy="1897758"/>
            </a:xfrm>
            <a:prstGeom prst="rect">
              <a:avLst/>
            </a:prstGeom>
          </p:spPr>
        </p:pic>
      </p:grpSp>
      <p:grpSp>
        <p:nvGrpSpPr>
          <p:cNvPr id="51" name="Group 50">
            <a:extLst>
              <a:ext uri="{FF2B5EF4-FFF2-40B4-BE49-F238E27FC236}">
                <a16:creationId xmlns:a16="http://schemas.microsoft.com/office/drawing/2014/main" id="{954AFCA3-04E3-A594-C15A-CE72A4B89E19}"/>
              </a:ext>
            </a:extLst>
          </p:cNvPr>
          <p:cNvGrpSpPr/>
          <p:nvPr/>
        </p:nvGrpSpPr>
        <p:grpSpPr>
          <a:xfrm>
            <a:off x="6836786" y="1249683"/>
            <a:ext cx="5167153" cy="3863336"/>
            <a:chOff x="6836786" y="1371599"/>
            <a:chExt cx="5167153" cy="3200953"/>
          </a:xfrm>
        </p:grpSpPr>
        <p:pic>
          <p:nvPicPr>
            <p:cNvPr id="44" name="Picture 43">
              <a:extLst>
                <a:ext uri="{FF2B5EF4-FFF2-40B4-BE49-F238E27FC236}">
                  <a16:creationId xmlns:a16="http://schemas.microsoft.com/office/drawing/2014/main" id="{A510F07F-503B-813B-D639-09E0F1765B45}"/>
                </a:ext>
              </a:extLst>
            </p:cNvPr>
            <p:cNvPicPr>
              <a:picLocks noChangeAspect="1"/>
            </p:cNvPicPr>
            <p:nvPr/>
          </p:nvPicPr>
          <p:blipFill>
            <a:blip r:embed="rId9"/>
            <a:stretch>
              <a:fillRect/>
            </a:stretch>
          </p:blipFill>
          <p:spPr>
            <a:xfrm>
              <a:off x="6849353" y="1371599"/>
              <a:ext cx="2640812" cy="1639582"/>
            </a:xfrm>
            <a:prstGeom prst="rect">
              <a:avLst/>
            </a:prstGeom>
          </p:spPr>
        </p:pic>
        <p:pic>
          <p:nvPicPr>
            <p:cNvPr id="46" name="Picture 45">
              <a:extLst>
                <a:ext uri="{FF2B5EF4-FFF2-40B4-BE49-F238E27FC236}">
                  <a16:creationId xmlns:a16="http://schemas.microsoft.com/office/drawing/2014/main" id="{76494AE3-673F-8BF8-E873-059B88ED322F}"/>
                </a:ext>
              </a:extLst>
            </p:cNvPr>
            <p:cNvPicPr>
              <a:picLocks noChangeAspect="1"/>
            </p:cNvPicPr>
            <p:nvPr/>
          </p:nvPicPr>
          <p:blipFill>
            <a:blip r:embed="rId10"/>
            <a:stretch>
              <a:fillRect/>
            </a:stretch>
          </p:blipFill>
          <p:spPr>
            <a:xfrm>
              <a:off x="9490165" y="1371600"/>
              <a:ext cx="2505349" cy="1639582"/>
            </a:xfrm>
            <a:prstGeom prst="rect">
              <a:avLst/>
            </a:prstGeom>
          </p:spPr>
        </p:pic>
        <p:pic>
          <p:nvPicPr>
            <p:cNvPr id="48" name="Picture 47">
              <a:extLst>
                <a:ext uri="{FF2B5EF4-FFF2-40B4-BE49-F238E27FC236}">
                  <a16:creationId xmlns:a16="http://schemas.microsoft.com/office/drawing/2014/main" id="{F6DF2FC6-16F9-E65A-96B3-4A855E9296A8}"/>
                </a:ext>
              </a:extLst>
            </p:cNvPr>
            <p:cNvPicPr>
              <a:picLocks noChangeAspect="1"/>
            </p:cNvPicPr>
            <p:nvPr/>
          </p:nvPicPr>
          <p:blipFill>
            <a:blip r:embed="rId11"/>
            <a:stretch>
              <a:fillRect/>
            </a:stretch>
          </p:blipFill>
          <p:spPr>
            <a:xfrm>
              <a:off x="6836786" y="3011183"/>
              <a:ext cx="2653379" cy="1561369"/>
            </a:xfrm>
            <a:prstGeom prst="rect">
              <a:avLst/>
            </a:prstGeom>
          </p:spPr>
        </p:pic>
        <p:pic>
          <p:nvPicPr>
            <p:cNvPr id="50" name="Picture 49">
              <a:extLst>
                <a:ext uri="{FF2B5EF4-FFF2-40B4-BE49-F238E27FC236}">
                  <a16:creationId xmlns:a16="http://schemas.microsoft.com/office/drawing/2014/main" id="{B2CF7384-290F-085B-6C44-FCE2D1A436D6}"/>
                </a:ext>
              </a:extLst>
            </p:cNvPr>
            <p:cNvPicPr>
              <a:picLocks noChangeAspect="1"/>
            </p:cNvPicPr>
            <p:nvPr/>
          </p:nvPicPr>
          <p:blipFill>
            <a:blip r:embed="rId12"/>
            <a:stretch>
              <a:fillRect/>
            </a:stretch>
          </p:blipFill>
          <p:spPr>
            <a:xfrm>
              <a:off x="9490165" y="3011183"/>
              <a:ext cx="2513774" cy="1561369"/>
            </a:xfrm>
            <a:prstGeom prst="rect">
              <a:avLst/>
            </a:prstGeom>
          </p:spPr>
        </p:pic>
      </p:grpSp>
    </p:spTree>
    <p:extLst>
      <p:ext uri="{BB962C8B-B14F-4D97-AF65-F5344CB8AC3E}">
        <p14:creationId xmlns:p14="http://schemas.microsoft.com/office/powerpoint/2010/main" val="1483293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083427"/>
            <a:ext cx="11029616" cy="530296"/>
          </a:xfrm>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4" name="Rectangle 2">
            <a:extLst>
              <a:ext uri="{FF2B5EF4-FFF2-40B4-BE49-F238E27FC236}">
                <a16:creationId xmlns:a16="http://schemas.microsoft.com/office/drawing/2014/main" id="{AE90F0D3-BDEA-0292-92F3-78C774C3D8CE}"/>
              </a:ext>
            </a:extLst>
          </p:cNvPr>
          <p:cNvSpPr>
            <a:spLocks noGrp="1" noChangeArrowheads="1"/>
          </p:cNvSpPr>
          <p:nvPr>
            <p:ph idx="1"/>
          </p:nvPr>
        </p:nvSpPr>
        <p:spPr bwMode="auto">
          <a:xfrm>
            <a:off x="581192" y="1922217"/>
            <a:ext cx="10524958"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00000"/>
              </a:lnSpc>
              <a:spcBef>
                <a:spcPct val="0"/>
              </a:spcBef>
              <a:spcAft>
                <a:spcPct val="0"/>
              </a:spcAft>
              <a:buClrTx/>
              <a:buSzTx/>
              <a:buFont typeface="Wingdings" panose="05000000000000000000" pitchFamily="2" charset="2"/>
              <a:buChar char="Ø"/>
            </a:pPr>
            <a:r>
              <a:rPr lang="en-GB" sz="2500" dirty="0"/>
              <a:t>The </a:t>
            </a:r>
            <a:r>
              <a:rPr lang="en-GB" sz="2500" dirty="0" err="1"/>
              <a:t>Edunet</a:t>
            </a:r>
            <a:r>
              <a:rPr lang="en-GB" sz="2500" dirty="0"/>
              <a:t>-Foundation Study Planner provides students with an all-in-one, easy-to-use web-based tool to efficiently organize their study schedules, set achievable goals, and track progress. By leveraging HTML, CSS, and JavaScript with local storage, it ensures data persistence without the need for server-side infrastructure, making it lightweight and accessible on any device. Features like task management, a Pomodoro timer, and analytics empower users to improve their productivity and time management. This project serves as a practical and effective solution for academic planning while offering future potential for cloud synchronization and advanced notifications to further enhance user experience</a:t>
            </a:r>
            <a:r>
              <a:rPr lang="en-GB" sz="2400" dirty="0"/>
              <a:t>.</a:t>
            </a:r>
            <a:r>
              <a:rPr kumimoji="0" lang="en-US" altLang="en-US" sz="2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183315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81192" y="1055234"/>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 </a:t>
            </a:r>
          </a:p>
        </p:txBody>
      </p:sp>
      <p:sp>
        <p:nvSpPr>
          <p:cNvPr id="2" name="Content Placeholder 1">
            <a:extLst>
              <a:ext uri="{FF2B5EF4-FFF2-40B4-BE49-F238E27FC236}">
                <a16:creationId xmlns:a16="http://schemas.microsoft.com/office/drawing/2014/main" id="{9D34F224-4AA0-CB45-7156-5485779AB06F}"/>
              </a:ext>
            </a:extLst>
          </p:cNvPr>
          <p:cNvSpPr>
            <a:spLocks noGrp="1" noChangeArrowheads="1"/>
          </p:cNvSpPr>
          <p:nvPr>
            <p:ph idx="1"/>
          </p:nvPr>
        </p:nvSpPr>
        <p:spPr bwMode="auto">
          <a:xfrm>
            <a:off x="581192" y="2195409"/>
            <a:ext cx="11237885" cy="3267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GB" sz="2000" dirty="0"/>
              <a:t>Implement cloud synchronization to enable data access across multiple devices.</a:t>
            </a:r>
          </a:p>
          <a:p>
            <a:r>
              <a:rPr lang="en-GB" sz="2000" dirty="0"/>
              <a:t>Add real-time notifications and reminders for upcoming tasks and deadlines.</a:t>
            </a:r>
          </a:p>
          <a:p>
            <a:r>
              <a:rPr lang="en-GB" sz="2000" dirty="0"/>
              <a:t>Introduce a dark mode toggle for improved usability and accessibility.</a:t>
            </a:r>
          </a:p>
          <a:p>
            <a:r>
              <a:rPr lang="en-GB" sz="2000" dirty="0"/>
              <a:t>Enable export of progress reports in PDF or Excel formats for offline review.</a:t>
            </a:r>
          </a:p>
          <a:p>
            <a:r>
              <a:rPr lang="en-GB" sz="2000" dirty="0"/>
              <a:t>Integrate with popular calendar services like Google Calendar and Outlook for seamless scheduling.</a:t>
            </a:r>
          </a:p>
          <a:p>
            <a:r>
              <a:rPr lang="en-GB" sz="2000" dirty="0"/>
              <a:t>Enhance analytics with AI-based personalized study recommendations.</a:t>
            </a:r>
          </a:p>
          <a:p>
            <a:r>
              <a:rPr lang="en-GB" sz="2000" dirty="0"/>
              <a:t>Add collaborative features to support group study sessions and shared goals.</a:t>
            </a:r>
          </a:p>
        </p:txBody>
      </p:sp>
    </p:spTree>
    <p:extLst>
      <p:ext uri="{BB962C8B-B14F-4D97-AF65-F5344CB8AC3E}">
        <p14:creationId xmlns:p14="http://schemas.microsoft.com/office/powerpoint/2010/main" val="614882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946426"/>
            <a:ext cx="11029616" cy="530296"/>
          </a:xfrm>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581192" y="1476722"/>
            <a:ext cx="11029615" cy="4673324"/>
          </a:xfrm>
        </p:spPr>
        <p:txBody>
          <a:bodyPr>
            <a:normAutofit/>
          </a:bodyPr>
          <a:lstStyle/>
          <a:p>
            <a:r>
              <a:rPr lang="en-GB" dirty="0"/>
              <a:t>"A Study Planner App: Helping Students Stay Organized and On-Track"</a:t>
            </a:r>
            <a:br>
              <a:rPr lang="en-GB" dirty="0"/>
            </a:br>
            <a:r>
              <a:rPr lang="en-GB" dirty="0">
                <a:hlinkClick r:id="rId2"/>
              </a:rPr>
              <a:t>https://www.scribd.com/document/661027328/A-Study-Planner-App-Helping-Students-Stay-Organized-and-On-Track</a:t>
            </a:r>
            <a:endParaRPr lang="en-GB" dirty="0"/>
          </a:p>
          <a:p>
            <a:r>
              <a:rPr lang="en-GB" dirty="0"/>
              <a:t>"AI-Based Study Planner" (Research Paper)</a:t>
            </a:r>
            <a:br>
              <a:rPr lang="en-GB" dirty="0"/>
            </a:br>
            <a:r>
              <a:rPr lang="en-GB" dirty="0">
                <a:hlinkClick r:id="rId3"/>
              </a:rPr>
              <a:t>https://ijcrt.org/papers/IJCRT2412393.pdf</a:t>
            </a:r>
            <a:endParaRPr lang="en-GB" dirty="0"/>
          </a:p>
          <a:p>
            <a:r>
              <a:rPr lang="en-GB" dirty="0"/>
              <a:t>"The Impact of Time Management on College Students' Study Engagement"</a:t>
            </a:r>
            <a:br>
              <a:rPr lang="en-GB" dirty="0"/>
            </a:br>
            <a:r>
              <a:rPr lang="en-GB" dirty="0">
                <a:hlinkClick r:id="rId4"/>
              </a:rPr>
              <a:t>https://pmc.ncbi.nlm.nih.gov/articles/PMC11967054/</a:t>
            </a:r>
            <a:endParaRPr lang="en-GB" dirty="0"/>
          </a:p>
          <a:p>
            <a:r>
              <a:rPr lang="en-GB" dirty="0"/>
              <a:t>"Designing a Digital Planner App for College Students"</a:t>
            </a:r>
            <a:br>
              <a:rPr lang="en-GB" dirty="0"/>
            </a:br>
            <a:r>
              <a:rPr lang="en-GB" dirty="0">
                <a:hlinkClick r:id="rId5"/>
              </a:rPr>
              <a:t>https://ijisrt.com/assets/upload/files/IJISRT25MAY764.pdf</a:t>
            </a:r>
            <a:endParaRPr lang="en-GB" dirty="0"/>
          </a:p>
          <a:p>
            <a:r>
              <a:rPr lang="en-GB" dirty="0"/>
              <a:t>"Boosting productivity and wellbeing through time management"</a:t>
            </a:r>
            <a:br>
              <a:rPr lang="en-GB" dirty="0"/>
            </a:br>
            <a:r>
              <a:rPr lang="en-GB" dirty="0">
                <a:hlinkClick r:id="rId6"/>
              </a:rPr>
              <a:t>https://www.frontiersin.org/journals/education/articles/10.3389/feduc.2025.1623228/full</a:t>
            </a:r>
            <a:endParaRPr lang="en-GB" dirty="0"/>
          </a:p>
        </p:txBody>
      </p:sp>
    </p:spTree>
    <p:extLst>
      <p:ext uri="{BB962C8B-B14F-4D97-AF65-F5344CB8AC3E}">
        <p14:creationId xmlns:p14="http://schemas.microsoft.com/office/powerpoint/2010/main" val="728950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normAutofit/>
          </a:bodyPr>
          <a:lstStyle/>
          <a:p>
            <a:pPr algn="ctr"/>
            <a:r>
              <a:rPr lang="en-US" sz="48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0fa2617-96bd-425d-8578-e93563fe37c5"/>
    <ds:schemaRef ds:uri="9162bd5b-4ed9-4da3-b376-05204580ba3f"/>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Future forward</Template>
  <TotalTime>160</TotalTime>
  <Words>559</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Calibri Light</vt:lpstr>
      <vt:lpstr>Franklin Gothic Book</vt:lpstr>
      <vt:lpstr>Franklin Gothic Demi</vt:lpstr>
      <vt:lpstr>Wingdings</vt:lpstr>
      <vt:lpstr>Wingdings 2</vt:lpstr>
      <vt:lpstr>DividendVTI</vt:lpstr>
      <vt:lpstr>Smart Study Planner</vt:lpstr>
      <vt:lpstr>OUTLINE</vt:lpstr>
      <vt:lpstr>Problem Statement</vt:lpstr>
      <vt:lpstr>System  Approach</vt:lpstr>
      <vt:lpstr>Algorithm &amp; Deployment</vt:lpstr>
      <vt:lpstr>Result</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Shubhrat Chaursiya</cp:lastModifiedBy>
  <cp:revision>47</cp:revision>
  <dcterms:created xsi:type="dcterms:W3CDTF">2021-05-26T16:50:10Z</dcterms:created>
  <dcterms:modified xsi:type="dcterms:W3CDTF">2025-09-27T22:48:55Z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